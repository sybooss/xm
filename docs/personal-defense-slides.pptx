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713232" y="713232"/>
            <a:ext cx="1737360" cy="420624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DBEAFE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450" b="1" dirty="0">
                <a:solidFill>
                  <a:srgbClr val="2563EB"/>
                </a:solidFill>
                <a:latin typeface="Microsoft YaHei"/>
                <a:ea typeface="Microsoft YaHei"/>
              </a:rPr>
              <a:t>个人答辩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658368" y="1417320"/>
            <a:ext cx="6766560" cy="1371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4200" b="1" dirty="0">
                <a:solidFill>
                  <a:srgbClr val="0F172A"/>
                </a:solidFill>
                <a:latin typeface="Microsoft YaHei"/>
                <a:ea typeface="Microsoft YaHei"/>
              </a:rPr>
              <a:t>电商退换货 AI 客服系统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13232" y="2816352"/>
            <a:ext cx="6675120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2050" dirty="0">
                <a:solidFill>
                  <a:srgbClr val="4B5563"/>
                </a:solidFill>
                <a:latin typeface="Microsoft YaHei"/>
                <a:ea typeface="Microsoft YaHei"/>
              </a:rPr>
              <a:t>完整售后链路 + RAG 知识依据 + LangChain4j 增强 + 工单闭环 + 日志追踪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13232" y="5349240"/>
            <a:ext cx="530352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Spring Boot + Vue 3 + MySQL + LangChain4j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726679" y="1005840"/>
            <a:ext cx="29260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2100" b="1" dirty="0">
                <a:solidFill>
                  <a:srgbClr val="2563EB"/>
                </a:solidFill>
                <a:latin typeface="Microsoft YaHei"/>
                <a:ea typeface="Microsoft YaHei"/>
              </a:rPr>
              <a:t>AI 增强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726679" y="1938528"/>
            <a:ext cx="29260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2100" b="1" dirty="0">
                <a:solidFill>
                  <a:srgbClr val="059669"/>
                </a:solidFill>
                <a:latin typeface="Microsoft YaHei"/>
                <a:ea typeface="Microsoft YaHei"/>
              </a:rPr>
              <a:t>本地兜底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726679" y="2871216"/>
            <a:ext cx="29260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2100" b="1" dirty="0">
                <a:solidFill>
                  <a:srgbClr val="7C3AED"/>
                </a:solidFill>
                <a:latin typeface="Microsoft YaHei"/>
                <a:ea typeface="Microsoft YaHei"/>
              </a:rPr>
              <a:t>可解释日志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726679" y="3803904"/>
            <a:ext cx="292608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2100" b="1" dirty="0">
                <a:solidFill>
                  <a:srgbClr val="D97706"/>
                </a:solidFill>
                <a:latin typeface="Microsoft YaHei"/>
                <a:ea typeface="Microsoft YaHei"/>
              </a:rPr>
              <a:t>权限隔离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我负责讲清楚的一条主线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完整售后系统，不是单纯套壳聊天框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业务闭环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登录注册、订单售后、知识库、聊天、工单、日志全部打通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AI 增强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LangChain4j 负责增强表达和工具编排，业务规则仍由后端控制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稳定演示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模型失败时使用本地规则兜底，核心售后流程不中断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证据可查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处理轨迹、检索日志、AI 日志和浏览器烟测共同支撑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核心链路：用户问题如何变成可信回复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每一步都有代码、数据或日志对应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消息进入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POST /chat-sessions/{id}/message-stream 保存用户消息并推送进度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业务理解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解析上下文、识别退货/退款/物流/投诉等售后意图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依据生成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读取订单状态，检索 knowledge_doc，形成本地业务判断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回复与沉淀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AI 增强或本地兜底，必要时创建工单并记录日志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处理流程可以现场展开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右侧处理洞察和日志中心让 AI 链路可解释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221284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700" b="1" dirty="0">
                <a:solidFill>
                  <a:srgbClr val="2563EB"/>
                </a:solidFill>
                <a:latin typeface="Microsoft YaHei"/>
                <a:ea typeface="Microsoft YaHei"/>
              </a:rPr>
              <a:t>01</a:t>
            </a:r>
          </a:p>
          <a:p>
            <a:pPr>
              <a:buNone/>
            </a:pPr>
            <a:r>
              <a:rPr lang="zh-CN" sz="1680" b="1" dirty="0">
                <a:solidFill>
                  <a:srgbClr val="111827"/>
                </a:solidFill>
                <a:latin typeface="Microsoft YaHei"/>
                <a:ea typeface="Microsoft YaHei"/>
              </a:rPr>
              <a:t>上下文承接</a:t>
            </a:r>
          </a:p>
          <a:p>
            <a:pPr>
              <a:buNone/>
            </a:pPr>
            <a:r>
              <a:rPr lang="zh-CN" sz="1180" dirty="0">
                <a:solidFill>
                  <a:srgbClr val="64748B"/>
                </a:solidFill>
                <a:latin typeface="Microsoft YaHei"/>
                <a:ea typeface="Microsoft YaHei"/>
              </a:rPr>
              <a:t>判断是否为追问并继承上轮意图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3145536" y="1856231"/>
            <a:ext cx="221284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700" b="1" dirty="0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</a:p>
          <a:p>
            <a:pPr>
              <a:buNone/>
            </a:pPr>
            <a:r>
              <a:rPr lang="zh-CN" sz="1680" b="1" dirty="0">
                <a:solidFill>
                  <a:srgbClr val="111827"/>
                </a:solidFill>
                <a:latin typeface="Microsoft YaHei"/>
                <a:ea typeface="Microsoft YaHei"/>
              </a:rPr>
              <a:t>意图识别</a:t>
            </a:r>
          </a:p>
          <a:p>
            <a:pPr>
              <a:buNone/>
            </a:pPr>
            <a:r>
              <a:rPr lang="zh-CN" sz="1180" dirty="0">
                <a:solidFill>
                  <a:srgbClr val="64748B"/>
                </a:solidFill>
                <a:latin typeface="Microsoft YaHei"/>
                <a:ea typeface="Microsoft YaHei"/>
              </a:rPr>
              <a:t>识别退货、换货、退款进度、物流异常、投诉转接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632704" y="1856231"/>
            <a:ext cx="221284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700" b="1" dirty="0">
                <a:solidFill>
                  <a:srgbClr val="2563EB"/>
                </a:solidFill>
                <a:latin typeface="Microsoft YaHei"/>
                <a:ea typeface="Microsoft YaHei"/>
              </a:rPr>
              <a:t>03</a:t>
            </a:r>
          </a:p>
          <a:p>
            <a:pPr>
              <a:buNone/>
            </a:pPr>
            <a:r>
              <a:rPr lang="zh-CN" sz="1680" b="1" dirty="0">
                <a:solidFill>
                  <a:srgbClr val="111827"/>
                </a:solidFill>
                <a:latin typeface="Microsoft YaHei"/>
                <a:ea typeface="Microsoft YaHei"/>
              </a:rPr>
              <a:t>知识检索</a:t>
            </a:r>
          </a:p>
          <a:p>
            <a:pPr>
              <a:buNone/>
            </a:pPr>
            <a:r>
              <a:rPr lang="zh-CN" sz="1180" dirty="0">
                <a:solidFill>
                  <a:srgbClr val="64748B"/>
                </a:solidFill>
                <a:latin typeface="Microsoft YaHei"/>
                <a:ea typeface="Microsoft YaHei"/>
              </a:rPr>
              <a:t>展示命中文档和检索原因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119872" y="1856231"/>
            <a:ext cx="2212848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700" b="1" dirty="0">
                <a:solidFill>
                  <a:srgbClr val="2563EB"/>
                </a:solidFill>
                <a:latin typeface="Microsoft YaHei"/>
                <a:ea typeface="Microsoft YaHei"/>
              </a:rPr>
              <a:t>04</a:t>
            </a:r>
          </a:p>
          <a:p>
            <a:pPr>
              <a:buNone/>
            </a:pPr>
            <a:r>
              <a:rPr lang="zh-CN" sz="1680" b="1" dirty="0">
                <a:solidFill>
                  <a:srgbClr val="111827"/>
                </a:solidFill>
                <a:latin typeface="Microsoft YaHei"/>
                <a:ea typeface="Microsoft YaHei"/>
              </a:rPr>
              <a:t>生成与兜底</a:t>
            </a:r>
          </a:p>
          <a:p>
            <a:pPr>
              <a:buNone/>
            </a:pPr>
            <a:r>
              <a:rPr lang="zh-CN" sz="1180" dirty="0">
                <a:solidFill>
                  <a:srgbClr val="64748B"/>
                </a:solidFill>
                <a:latin typeface="Microsoft YaHei"/>
                <a:ea typeface="Microsoft YaHei"/>
              </a:rPr>
              <a:t>记录模型状态、耗时、失败或兜底结果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RAG 知识依据：回答不是凭空生成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老师质疑时可以打开知识库和日志中心验证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知识来源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退货规则、退款时效、物流异常、投诉转人工等文档保存在 knowledge_doc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命中展示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咨询工作台右侧展示命中文档标题和规则摘要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日志留痕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retrieval_log 保存查询词、命中文档、排序、分数和原因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答辩话术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AI 只是组织语言，业务依据来自可维护知识库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LangChain4j 与本地兜底的取舍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AI 提升体验，但不能替代业务规则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增强层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AiServiceImpl 组织 prompt 并调用 OpenAI-compatible 模型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工具结果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AiBusinessToolService 封装订单查询、知识检索和工单创建结果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业务优先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订单是否可退、是否已有售后、是否转人工由 Spring Boot 判断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兜底策略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无 key、模型失败或关闭 AI 时返回本地规则模板并记录状态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智能工单：从问答走向真实客服协同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投诉、人工客服、物流异常不是只回复一句话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触发条件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投诉、平台介入、商家不处理、人工客服等诉求触发工单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工单内容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保存会话、订单、用户问题、AI 摘要、处理建议和优先级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页面演示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/service-tickets 可筛选、查看详情和流转状态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高分价值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体现复杂软件系统的业务闭环，而不只是 API 调用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前端展示：把亮点变成老师能看到的证据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新增答辩展示中心，先建立整体印象再进入工作台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展示中心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/showcase 汇总演示顺序、8 个亮点、系统状态和关键入口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咨询工作台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消息区、订单上下文、知识命中、处理轨迹同屏展示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角色隔离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客户看不到也访问不了后台和展示中心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日志诊断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/logs 聚合 AI 成功率、平均耗时、知识命中和会话步骤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日志诊断中心：把可解释性变成一屏证据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答辩收尾时用数据证明系统不是黑盒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AI 稳定性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最近调用按 SUCCESS、SKIPPED、FAILED 统计，并展示成功率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响应效率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平均耗时只统计有真实耗时记录的模型调用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知识命中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展示检索日志数量、去重命中文档、平均检索分数和高频文档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流程轨迹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输入会话 ID 后展开上下文解析、意图识别、检索、AI 生成和最终回复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验证证据：本项目不靠口头承诺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最近一轮验证已经覆盖代码、接口和浏览器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后端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mvn.cmd -q -DskipTests package 通过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前端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npm.cmd run build 通过，仅有 Vite chunk size 提示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全链路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tools/full-smoke-test.ps1：FAILED_COUNT=0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浏览器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test:browser 与 test:browser:roles 均 FAILED_COUNT=0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6F8FB">
              <a:alpha val="100000"/>
            </a:srgbClr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320040" y="310896"/>
            <a:ext cx="11567160" cy="36576"/>
          </a:xfrm>
          <a:prstGeom prst="roundRect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48640" y="512064"/>
            <a:ext cx="81381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3000" b="1" dirty="0">
                <a:solidFill>
                  <a:srgbClr val="0F172A"/>
                </a:solidFill>
                <a:latin typeface="Microsoft YaHei"/>
                <a:ea typeface="Microsoft YaHei"/>
              </a:rPr>
              <a:t>如果老师继续追问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66928" y="1133856"/>
            <a:ext cx="8503920" cy="49377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把问题落回业务可靠性、可解释性和可扩展性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58368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为什么不是普通聊天机器人？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因为它先做业务编排，再做 AI 增强，并能生成工单和日志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309359" y="1856231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AI 不可用怎么办？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本地规则兜底，聊天主链路不中断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后续如何扩展？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向量检索、细粒度 RBAC、统计看板、售后状态工作流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09359" y="3090672"/>
            <a:ext cx="516636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850" b="1" dirty="0">
                <a:solidFill>
                  <a:srgbClr val="111827"/>
                </a:solidFill>
                <a:latin typeface="Microsoft YaHei"/>
                <a:ea typeface="Microsoft YaHei"/>
              </a:rPr>
              <a:t>个人贡献怎么概括？</a:t>
            </a:r>
          </a:p>
          <a:p>
            <a:pPr>
              <a:buNone/>
            </a:pPr>
            <a:r>
              <a:rPr lang="zh-CN" sz="1320" dirty="0">
                <a:solidFill>
                  <a:srgbClr val="64748B"/>
                </a:solidFill>
                <a:latin typeface="Microsoft YaHei"/>
                <a:ea typeface="Microsoft YaHei"/>
              </a:rPr>
              <a:t>核心链路、AI/RAG/工单/日志、展示入口和验证材料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58368" y="6272784"/>
            <a:ext cx="804672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050" dirty="0">
                <a:solidFill>
                  <a:srgbClr val="94A3B8"/>
                </a:solidFill>
                <a:latin typeface="Microsoft YaHei"/>
                <a:ea typeface="Microsoft YaHei"/>
              </a:rPr>
              <a:t>D:\复制软件系统 | 《复杂软件系统实践》个人答辩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10716768" y="6199632"/>
            <a:ext cx="7315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>
              <a:buNone/>
            </a:pPr>
            <a:r>
              <a:rPr lang="zh-CN" sz="1200" b="1" dirty="0">
                <a:solidFill>
                  <a:srgbClr val="94A3B8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 Defense">
  <a:themeElements>
    <a:clrScheme name="Course">
      <a:dk1>
        <a:srgbClr val="111827"/>
      </a:dk1>
      <a:lt1>
        <a:srgbClr val="FFFFFF"/>
      </a:lt1>
      <a:dk2>
        <a:srgbClr val="334155"/>
      </a:dk2>
      <a:lt2>
        <a:srgbClr val="F6F8FB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0284C7"/>
      </a:accent5>
      <a:accent6>
        <a:srgbClr val="DC2626"/>
      </a:accent6>
      <a:hlink>
        <a:srgbClr val="2563EB"/>
      </a:hlink>
      <a:folHlink>
        <a:srgbClr val="7C3AED"/>
      </a:folHlink>
    </a:clrScheme>
    <a:fontScheme name="Cours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Cours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11</Slides>
  <Company>人工智能学院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电商退换货智能客服系统个人答辩</dc:title>
  <dc:creator>Codex</dc:creator>
  <cp:lastModifiedBy>Codex</cp:lastModifiedBy>
  <dcterms:created xsi:type="dcterms:W3CDTF">2026-05-05T00:00:00Z</dcterms:created>
  <dcterms:modified xsi:type="dcterms:W3CDTF">2026-05-05T00:00:00Z</dcterms:modified>
</cp:coreProperties>
</file>